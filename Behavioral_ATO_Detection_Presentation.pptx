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7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  <c:pt idx="3">
                    <c:v>Critical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1240</c:v>
                </c:pt>
                <c:pt idx="1">
                  <c:v>890</c:v>
                </c:pt>
                <c:pt idx="2">
                  <c:v>430</c:v>
                </c:pt>
                <c:pt idx="3">
                  <c:v>145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Success</c:v>
                </c:pt>
                <c:pt idx="1">
                  <c:v>Failed</c:v>
                </c:pt>
                <c:pt idx="2">
                  <c:v>Blocked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62</c:v>
                </c:pt>
                <c:pt idx="1">
                  <c:v>28</c:v>
                </c:pt>
                <c:pt idx="2">
                  <c:v>10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Fraud Events</c:v>
                </c:pt>
              </c:strCache>
            </c:strRef>
          </c:tx>
          <c:spPr>
            <a:solidFill>
              <a:srgbClr val="DC2626"/>
            </a:solidFill>
            <a:ln w="25400" cap="flat">
              <a:solidFill>
                <a:srgbClr val="DC262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DC2626"/>
              </a:solidFill>
              <a:ln w="9525" cap="flat">
                <a:solidFill>
                  <a:srgbClr val="DC262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45</c:v>
                </c:pt>
                <c:pt idx="1">
                  <c:v>62</c:v>
                </c:pt>
                <c:pt idx="2">
                  <c:v>58</c:v>
                </c:pt>
                <c:pt idx="3">
                  <c:v>89</c:v>
                </c:pt>
                <c:pt idx="4">
                  <c:v>73</c:v>
                </c:pt>
                <c:pt idx="5">
                  <c:v>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Devices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Known Device</c:v>
                </c:pt>
                <c:pt idx="1">
                  <c:v>New Device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72</c:v>
                </c:pt>
                <c:pt idx="1">
                  <c:v>28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Suspicious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Mumbai</c:v>
                  </c:pt>
                  <c:pt idx="1">
                    <c:v>Delhi</c:v>
                  </c:pt>
                  <c:pt idx="2">
                    <c:v>Bangalore</c:v>
                  </c:pt>
                  <c:pt idx="3">
                    <c:v>Pune</c:v>
                  </c:pt>
                  <c:pt idx="4">
                    <c:v>Chennai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52</c:v>
                </c:pt>
                <c:pt idx="2">
                  <c:v>29</c:v>
                </c:pt>
                <c:pt idx="3">
                  <c:v>44</c:v>
                </c:pt>
                <c:pt idx="4">
                  <c:v>31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Normal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Mumbai</c:v>
                  </c:pt>
                  <c:pt idx="1">
                    <c:v>Delhi</c:v>
                  </c:pt>
                  <c:pt idx="2">
                    <c:v>Bangalore</c:v>
                  </c:pt>
                  <c:pt idx="3">
                    <c:v>Pune</c:v>
                  </c:pt>
                  <c:pt idx="4">
                    <c:v>Chennai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62</c:v>
                </c:pt>
                <c:pt idx="1">
                  <c:v>48</c:v>
                </c:pt>
                <c:pt idx="2">
                  <c:v>71</c:v>
                </c:pt>
                <c:pt idx="3">
                  <c:v>56</c:v>
                </c:pt>
                <c:pt idx="4">
                  <c:v>69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Browser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Pt>
            <c:idx val="3"/>
            <c:bubble3D val="0"/>
            <c:spPr>
              <a:solidFill>
                <a:srgbClr val="1A2F5E"/>
              </a:solidFill>
              <a:effectLst/>
            </c:spPr>
          </c:dPt>
          <c:dPt>
            <c:idx val="4"/>
            <c:bubble3D val="0"/>
            <c:spPr>
              <a:solidFill>
                <a:srgbClr val="64748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Chrome</c:v>
                </c:pt>
                <c:pt idx="1">
                  <c:v>Firefox</c:v>
                </c:pt>
                <c:pt idx="2">
                  <c:v>Safari</c:v>
                </c:pt>
                <c:pt idx="3">
                  <c:v>Edge</c:v>
                </c:pt>
                <c:pt idx="4">
                  <c:v>Other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48</c:v>
                </c:pt>
                <c:pt idx="1">
                  <c:v>18</c:v>
                </c:pt>
                <c:pt idx="2">
                  <c:v>16</c:v>
                </c:pt>
                <c:pt idx="3">
                  <c:v>12</c:v>
                </c:pt>
                <c:pt idx="4">
                  <c:v>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Txn Count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USR_001</c:v>
                  </c:pt>
                  <c:pt idx="1">
                    <c:v>USR_045</c:v>
                  </c:pt>
                  <c:pt idx="2">
                    <c:v>USR_112</c:v>
                  </c:pt>
                  <c:pt idx="3">
                    <c:v>USR_088</c:v>
                  </c:pt>
                  <c:pt idx="4">
                    <c:v>USR_203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34</c:v>
                </c:pt>
                <c:pt idx="1">
                  <c:v>28</c:v>
                </c:pt>
                <c:pt idx="2">
                  <c:v>22</c:v>
                </c:pt>
                <c:pt idx="3">
                  <c:v>19</c:v>
                </c:pt>
                <c:pt idx="4">
                  <c:v>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chart" Target="/ppt/charts/chart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0"/>
            <a:ext cx="73152" cy="5143500"/>
          </a:xfrm>
          <a:prstGeom prst="rect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D9488">
              <a:alpha val="15000"/>
            </a:srgbClr>
          </a:solidFill>
          <a:ln w="12700">
            <a:solidFill>
              <a:srgbClr val="0D9488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0" y="0"/>
            <a:ext cx="2286000" cy="2286000"/>
          </a:xfrm>
          <a:prstGeom prst="ellipse">
            <a:avLst/>
          </a:prstGeom>
          <a:solidFill>
            <a:srgbClr val="14B8A6">
              <a:alpha val="20000"/>
            </a:srgbClr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058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FRAUD INTELLIGENCE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77724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Account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Takeover Detection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Monitoring System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40080" y="3639312"/>
            <a:ext cx="502920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74904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C5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behavioral analytics to detect unauthorized account access and monitor suspicious activities in real-time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0" y="4754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Power BI Analytics Report  |  2025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</a:rPr>
              <a:t>REPORT OVERVIEW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Account Takeover Detection &amp; Risk Monitoring System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Power BI report provides a comprehensive 4-page analytics system for detecting and monitoring behavioral anomalies associated with account takeover fraud. It tracks login patterns, device changes, transaction risks, and customer-level risk scoring.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2402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2240280"/>
            <a:ext cx="73152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13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Fraud Overview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971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risk score distribution, login status, and fraud trend timelines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22402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2240280"/>
            <a:ext cx="73152" cy="118872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23134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2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892040" y="26517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Monitoring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9718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change analysis, city-wise suspicious logins, browser usage treemap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6118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11880"/>
            <a:ext cx="73152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850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02920" y="4023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Risk Dashboard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3434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transactions table, rapid transaction analysis, merchant risk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611880"/>
            <a:ext cx="40233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611880"/>
            <a:ext cx="73152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685032"/>
            <a:ext cx="502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92040" y="402336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Drill-Down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92040" y="434340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Customer-level risk filtering by date, city, device type, and risk level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PAGE 1  |  EXECUTIVE FRAUD OVERVIEW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92024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1920240" cy="914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9488"/>
                </a:solidFill>
              </a:rPr>
              <a:t>Total Logins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423160" y="822960"/>
            <a:ext cx="1920240" cy="91440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23160" y="822960"/>
            <a:ext cx="192024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23160" y="960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❌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2316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C2626"/>
                </a:solidFill>
              </a:rPr>
              <a:t>Failed Logins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0" y="822960"/>
            <a:ext cx="1920240" cy="91440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0" y="822960"/>
            <a:ext cx="192024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960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⚠️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High Risk Users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822960"/>
            <a:ext cx="1920240" cy="914400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720840" y="822960"/>
            <a:ext cx="1920240" cy="9144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0840" y="9601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20840" y="1325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2F5E"/>
                </a:solidFill>
              </a:rPr>
              <a:t>New Device Logins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920240"/>
            <a:ext cx="41148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Risk Score Distribution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Clustered Column Chart</a:t>
            </a:r>
            <a:endParaRPr lang="en-US" sz="9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20040" y="2560320"/>
          <a:ext cx="40233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4663440" y="1920240"/>
            <a:ext cx="19202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754880" y="20116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Login Status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754880" y="228600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Pie Chart</a:t>
            </a:r>
            <a:endParaRPr lang="en-US" sz="900" dirty="0"/>
          </a:p>
        </p:txBody>
      </p:sp>
      <p:graphicFrame>
        <p:nvGraphicFramePr>
          <p:cNvPr id="28" name="Chart 1" descr=""/>
          <p:cNvGraphicFramePr/>
          <p:nvPr/>
        </p:nvGraphicFramePr>
        <p:xfrm>
          <a:off x="4663440" y="2514600"/>
          <a:ext cx="192024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hape 25"/>
          <p:cNvSpPr/>
          <p:nvPr/>
        </p:nvSpPr>
        <p:spPr>
          <a:xfrm>
            <a:off x="6766560" y="1920240"/>
            <a:ext cx="210312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6858000" y="20116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Fraud Trend Over Time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858000" y="228600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Line Chart</a:t>
            </a:r>
            <a:endParaRPr lang="en-US" sz="900" dirty="0"/>
          </a:p>
        </p:txBody>
      </p:sp>
      <p:graphicFrame>
        <p:nvGraphicFramePr>
          <p:cNvPr id="32" name="Chart 2" descr=""/>
          <p:cNvGraphicFramePr/>
          <p:nvPr/>
        </p:nvGraphicFramePr>
        <p:xfrm>
          <a:off x="6766560" y="2514600"/>
          <a:ext cx="21031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PAGE 2  |  BEHAVIORAL MONITORING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behavioral anomalies through device changes, geographic login patterns, and browser usage — key signals for account takeover detection.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716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71600"/>
            <a:ext cx="27432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08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Device Change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920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0D9488"/>
                </a:solidFill>
              </a:rPr>
              <a:t>Donut Chart</a:t>
            </a:r>
            <a:endParaRPr lang="en-US" sz="8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20040" y="2148840"/>
          <a:ext cx="25603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338328" y="3895344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Identifies logins from new/unknown devices — a primary indicator of account takeover. Segments: Known Device vs New Device.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3200400" y="13716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371600"/>
            <a:ext cx="2743200" cy="109728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337560" y="1508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City-Wise Suspicious Logins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37560" y="1920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1A2F5E"/>
                </a:solidFill>
              </a:rPr>
              <a:t>100% Stacked Bar Chart</a:t>
            </a:r>
            <a:endParaRPr lang="en-US" sz="85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3246120" y="2148840"/>
          <a:ext cx="265176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3310128" y="3895344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Compares suspicious login proportions across cities to detect geographic anomalies and targeted fraud campaigns.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172200" y="1371600"/>
            <a:ext cx="274320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72200" y="1371600"/>
            <a:ext cx="2743200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09360" y="150876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</a:rPr>
              <a:t>Browser Usage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09360" y="19202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i="1" dirty="0">
                <a:solidFill>
                  <a:srgbClr val="D97706"/>
                </a:solidFill>
              </a:rPr>
              <a:t>Treemap</a:t>
            </a:r>
            <a:endParaRPr lang="en-US" sz="850" dirty="0"/>
          </a:p>
        </p:txBody>
      </p:sp>
      <p:graphicFrame>
        <p:nvGraphicFramePr>
          <p:cNvPr id="22" name="Chart 2" descr=""/>
          <p:cNvGraphicFramePr/>
          <p:nvPr/>
        </p:nvGraphicFramePr>
        <p:xfrm>
          <a:off x="6263640" y="2148840"/>
          <a:ext cx="256032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 18"/>
          <p:cNvSpPr/>
          <p:nvPr/>
        </p:nvSpPr>
        <p:spPr>
          <a:xfrm>
            <a:off x="6281928" y="3895344"/>
            <a:ext cx="252374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Maps browser distribution across sessions. Unusual browser combinations signal automated bot activity or credential stuffing.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PAGE 3  |  TRANSACTION RISK DASHBOARD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Monitors transaction-level fraud signals: high-value transactions, rapid transaction velocity, and merchant risk scoring.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840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3840480" cy="91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44752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📋  High Value 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7647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Tabular view of transactions flagged above risk threshold, sorted by merchant and amount for rapid investigation.</a:t>
            </a:r>
            <a:endParaRPr lang="en-US" sz="9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23160"/>
          <a:ext cx="3840480" cy="1508760"/>
        </p:xfrm>
        <a:graphic>
          <a:graphicData uri="http://schemas.openxmlformats.org/drawingml/2006/table">
            <a:tbl>
              <a:tblPr/>
              <a:tblGrid>
                <a:gridCol w="1737360"/>
                <a:gridCol w="1188720"/>
                <a:gridCol w="91440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Merchant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Amount (₹)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F5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Amazon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₹1,24,500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C2626"/>
                          </a:solidFill>
                        </a:rPr>
                        <a:t>HIGH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Flipkart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₹89,200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D97706"/>
                          </a:solidFill>
                        </a:rPr>
                        <a:t>MEDIUM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Paytm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₹2,10,000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991B1B"/>
                          </a:solidFill>
                        </a:rPr>
                        <a:t>CRITICAL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Swiggy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₹12,400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59669"/>
                          </a:solidFill>
                        </a:rPr>
                        <a:t>LOW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343400" y="1325880"/>
            <a:ext cx="4480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3400" y="1325880"/>
            <a:ext cx="4480560" cy="914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480560" y="14447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⚡  Rapid Transactions (Velocity Check)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480560" y="17647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Users with abnormally high transaction frequency within short intervals — a key fraud velocity signal.</a:t>
            </a:r>
            <a:endParaRPr lang="en-US" sz="95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343400" y="2423160"/>
          <a:ext cx="448056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Shape 12"/>
          <p:cNvSpPr/>
          <p:nvPr/>
        </p:nvSpPr>
        <p:spPr>
          <a:xfrm>
            <a:off x="274320" y="4069080"/>
            <a:ext cx="8549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274320" y="4069080"/>
            <a:ext cx="54864" cy="5943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572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</a:rPr>
              <a:t>🏪  Merchant Risk Analysis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57200" y="43891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Clustered column chart ranking merchants by fraud-associated transaction counts. Helps identify high-risk merchant partnerships and fraud hotspots.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85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</a:rPr>
              <a:t>PAGE 4  |  RISK DRILL-DOWN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Customer-level risk investigation with interactive filtering across date, geography, device, and risk classification.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" y="13258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325880"/>
            <a:ext cx="73152" cy="1371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356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📅  Login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Interactive Slicer Filter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0756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Date range slicer to filter login events by time period for temporal fraud pattern analysis.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3258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325880"/>
            <a:ext cx="73152" cy="1371600"/>
          </a:xfrm>
          <a:prstGeom prst="rect">
            <a:avLst/>
          </a:prstGeom>
          <a:solidFill>
            <a:srgbClr val="1A2F5E"/>
          </a:solidFill>
          <a:ln w="12700">
            <a:solidFill>
              <a:srgbClr val="1A2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356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F5E"/>
                </a:solidFill>
              </a:rPr>
              <a:t>🌆  City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46320" y="18288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Interactive Slicer Filter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46320" y="20756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Geographic filter to isolate suspicious login activity to specific cities or regions.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926080"/>
            <a:ext cx="73152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035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</a:rPr>
              <a:t>🔴  Risk Level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429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Interactive Slicer Filter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36758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Filter customers by Low / Medium / High / Critical risk classification for prioritized investigation.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11480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926080"/>
            <a:ext cx="73152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303580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</a:rPr>
              <a:t>📱  Device Type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429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Interactive Slicer Filter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36758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Segment sessions by Mobile, Desktop, or Tablet to detect device-based access anomalies.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28600" y="4553712"/>
            <a:ext cx="86868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57200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💡  Combined filters dynamically update the customer risk table, enabling analysts to drill into targeted segments for investigation.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</a:rPr>
              <a:t>KEY INSIGHTS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Capabilities Summary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🔐 Real-Time Risk Scoring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D4"/>
                </a:solidFill>
              </a:rPr>
              <a:t>Continuous behavioral scoring flags high-risk and critical users before account compromise occurs.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0" y="141732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📍 Geographic Anomaly Detection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764792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D4"/>
                </a:solidFill>
              </a:rPr>
              <a:t>City-level suspicious login tracking pinpoints fraud clusters and coordinated attack campaigns.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877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⚡ Velocity-Based Fraud Signals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352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D4"/>
                </a:solidFill>
              </a:rPr>
              <a:t>Rapid transaction frequency monitoring catches credential stuffing and automated fraud bots.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2587752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🖥️ Device Intelligence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935224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D4"/>
                </a:solidFill>
              </a:rPr>
              <a:t>New device login detection and browser fingerprinting identify unauthorized session takeovers.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758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🏪 Merchant Risk Intelligence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10565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D4"/>
                </a:solidFill>
              </a:rPr>
              <a:t>Merchant-level fraud association analysis enables proactive risk partnership management.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375818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</a:rPr>
              <a:t>🎛️ Interactive Investigation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754880" y="4105656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D4"/>
                </a:solidFill>
              </a:rPr>
              <a:t>4-page dynamic dashboard enables analysts to slice and drill into any fraud segment instantly.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Account Takeover Detection &amp; Risk Monitoring System</dc:title>
  <dc:subject>PptxGenJS Presentation</dc:subject>
  <dc:creator>PptxGenJS</dc:creator>
  <cp:lastModifiedBy>PptxGenJS</cp:lastModifiedBy>
  <cp:revision>1</cp:revision>
  <dcterms:created xsi:type="dcterms:W3CDTF">2026-05-30T15:05:21Z</dcterms:created>
  <dcterms:modified xsi:type="dcterms:W3CDTF">2026-05-30T15:05:21Z</dcterms:modified>
</cp:coreProperties>
</file>